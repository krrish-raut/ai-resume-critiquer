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6" d="100"/>
          <a:sy n="86" d="100"/>
        </p:scale>
        <p:origin x="53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11</a:t>
            </a:fld>
            <a:endParaRPr lang="en-IN"/>
          </a:p>
        </p:txBody>
      </p:sp>
    </p:spTree>
    <p:extLst>
      <p:ext uri="{BB962C8B-B14F-4D97-AF65-F5344CB8AC3E}">
        <p14:creationId xmlns:p14="http://schemas.microsoft.com/office/powerpoint/2010/main" val="595047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i.google.dev/" TargetMode="External"/><Relationship Id="rId2" Type="http://schemas.openxmlformats.org/officeDocument/2006/relationships/hyperlink" Target="https://docs.streamlit.io/" TargetMode="External"/><Relationship Id="rId1" Type="http://schemas.openxmlformats.org/officeDocument/2006/relationships/slideLayout" Target="../slideLayouts/slideLayout2.xml"/><Relationship Id="rId6" Type="http://schemas.openxmlformats.org/officeDocument/2006/relationships/hyperlink" Target="https://docs.python.org/" TargetMode="External"/><Relationship Id="rId5" Type="http://schemas.openxmlformats.org/officeDocument/2006/relationships/hyperlink" Target="https://github.com/" TargetMode="External"/><Relationship Id="rId4" Type="http://schemas.openxmlformats.org/officeDocument/2006/relationships/hyperlink" Target="https://pypdf2.readthedocs.io/"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Ai resume </a:t>
            </a:r>
            <a:r>
              <a:rPr lang="en-US" b="1" dirty="0" err="1">
                <a:solidFill>
                  <a:schemeClr val="accent1"/>
                </a:solidFill>
                <a:latin typeface="Arial" panose="020B0604020202020204" pitchFamily="34" charset="0"/>
                <a:cs typeface="Arial" panose="020B0604020202020204" pitchFamily="34" charset="0"/>
              </a:rPr>
              <a:t>critiquer</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2043450" y="388103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Krrish Kunal Raut</a:t>
            </a:r>
          </a:p>
          <a:p>
            <a:pPr marL="457200" indent="-457200">
              <a:buAutoNum type="arabicPeriod"/>
            </a:pPr>
            <a:r>
              <a:rPr lang="en-US" sz="2000" b="1" dirty="0">
                <a:solidFill>
                  <a:schemeClr val="accent1">
                    <a:lumMod val="75000"/>
                  </a:schemeClr>
                </a:solidFill>
                <a:latin typeface="Arial"/>
                <a:cs typeface="Arial"/>
              </a:rPr>
              <a:t>College Name-  </a:t>
            </a:r>
            <a:r>
              <a:rPr lang="en-US" sz="2000" b="1" dirty="0" err="1">
                <a:solidFill>
                  <a:schemeClr val="accent1">
                    <a:lumMod val="75000"/>
                  </a:schemeClr>
                </a:solidFill>
                <a:latin typeface="Arial"/>
                <a:cs typeface="Arial"/>
              </a:rPr>
              <a:t>Vidyabharti</a:t>
            </a:r>
            <a:r>
              <a:rPr lang="en-US" sz="2000" b="1" dirty="0">
                <a:solidFill>
                  <a:schemeClr val="accent1">
                    <a:lumMod val="75000"/>
                  </a:schemeClr>
                </a:solidFill>
                <a:latin typeface="Arial"/>
                <a:cs typeface="Arial"/>
              </a:rPr>
              <a:t> Mahavidyalaya, Amravati </a:t>
            </a:r>
          </a:p>
          <a:p>
            <a:pPr marL="457200" indent="-457200">
              <a:buAutoNum type="arabicPeriod"/>
            </a:pPr>
            <a:r>
              <a:rPr lang="en-US" sz="2000" b="1" dirty="0">
                <a:solidFill>
                  <a:schemeClr val="accent1">
                    <a:lumMod val="75000"/>
                  </a:schemeClr>
                </a:solidFill>
                <a:latin typeface="Arial"/>
                <a:cs typeface="Arial"/>
              </a:rPr>
              <a:t>Department- BCA (Data Science)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400" dirty="0"/>
              <a:t>.</a:t>
            </a:r>
            <a:endParaRPr lang="en-IN" sz="1400" dirty="0"/>
          </a:p>
        </p:txBody>
      </p:sp>
      <p:sp>
        <p:nvSpPr>
          <p:cNvPr id="3" name="TextBox 2">
            <a:extLst>
              <a:ext uri="{FF2B5EF4-FFF2-40B4-BE49-F238E27FC236}">
                <a16:creationId xmlns:a16="http://schemas.microsoft.com/office/drawing/2014/main" id="{23437233-1B64-4B04-1661-019678888A20}"/>
              </a:ext>
            </a:extLst>
          </p:cNvPr>
          <p:cNvSpPr txBox="1"/>
          <p:nvPr/>
        </p:nvSpPr>
        <p:spPr>
          <a:xfrm>
            <a:off x="804672" y="1380744"/>
            <a:ext cx="10543032" cy="4524315"/>
          </a:xfrm>
          <a:prstGeom prst="rect">
            <a:avLst/>
          </a:prstGeom>
          <a:noFill/>
        </p:spPr>
        <p:txBody>
          <a:bodyPr wrap="square" rtlCol="0">
            <a:spAutoFit/>
          </a:bodyPr>
          <a:lstStyle/>
          <a:p>
            <a:r>
              <a:rPr lang="en-GB" b="1" dirty="0"/>
              <a:t>AI-Powered Resume </a:t>
            </a:r>
            <a:r>
              <a:rPr lang="en-GB" b="1" dirty="0" err="1"/>
              <a:t>Critiquer</a:t>
            </a:r>
            <a:r>
              <a:rPr lang="en-GB" b="1" dirty="0"/>
              <a:t> &amp; ATS Optimization System</a:t>
            </a:r>
          </a:p>
          <a:p>
            <a:endParaRPr lang="en-GB" dirty="0"/>
          </a:p>
          <a:p>
            <a:r>
              <a:rPr lang="en-GB" dirty="0"/>
              <a:t>In today’s competitive job market, students and fresh graduates often struggle to create professional, well-structured resumes that effectively highlight their skills, achievements, and career goals. Most applicants rely on generic templates or manual feedback, which fails to address role-specific requirements and Applicant Tracking System (ATS) compatibility. As a result, many qualified candidates are filtered out during automated resume screening processes before reaching recruiters.</a:t>
            </a:r>
          </a:p>
          <a:p>
            <a:r>
              <a:rPr lang="en-GB" dirty="0"/>
              <a:t>There is a need for an intelligent, automated solution that can </a:t>
            </a:r>
            <a:r>
              <a:rPr lang="en-GB" dirty="0" err="1"/>
              <a:t>analyze</a:t>
            </a:r>
            <a:r>
              <a:rPr lang="en-GB" dirty="0"/>
              <a:t> resumes, evaluate keyword alignment with targeted job roles, assess ATS compatibility, and provide personalized, actionable feedback. Such a system should be accessible, easy to use, and capable of delivering instant, professional-level resume improvement suggestions.</a:t>
            </a:r>
          </a:p>
          <a:p>
            <a:r>
              <a:rPr lang="en-GB" dirty="0"/>
              <a:t>This project aims to develop an </a:t>
            </a:r>
            <a:r>
              <a:rPr lang="en-GB" b="1" dirty="0"/>
              <a:t>AI-powered Resume </a:t>
            </a:r>
            <a:r>
              <a:rPr lang="en-GB" b="1" dirty="0" err="1"/>
              <a:t>Critiquer</a:t>
            </a:r>
            <a:r>
              <a:rPr lang="en-GB" b="1" dirty="0"/>
              <a:t> and ATS Optimization System</a:t>
            </a:r>
            <a:r>
              <a:rPr lang="en-GB" dirty="0"/>
              <a:t> that enables users to upload resumes, receive ATS match scores, and obtain structured, role-specific recommendations using generative AI. The platform helps students improve their resumes efficiently, increasing their visibility and chances of success in job and internship applications.</a:t>
            </a:r>
          </a:p>
          <a:p>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Box 2">
            <a:extLst>
              <a:ext uri="{FF2B5EF4-FFF2-40B4-BE49-F238E27FC236}">
                <a16:creationId xmlns:a16="http://schemas.microsoft.com/office/drawing/2014/main" id="{163D494F-EE8A-4A93-274A-797095BC17C4}"/>
              </a:ext>
            </a:extLst>
          </p:cNvPr>
          <p:cNvSpPr txBox="1"/>
          <p:nvPr/>
        </p:nvSpPr>
        <p:spPr>
          <a:xfrm>
            <a:off x="514905" y="1232453"/>
            <a:ext cx="10955045" cy="5755422"/>
          </a:xfrm>
          <a:prstGeom prst="rect">
            <a:avLst/>
          </a:prstGeom>
          <a:noFill/>
        </p:spPr>
        <p:txBody>
          <a:bodyPr wrap="square" rtlCol="0">
            <a:spAutoFit/>
          </a:bodyPr>
          <a:lstStyle/>
          <a:p>
            <a:r>
              <a:rPr lang="en-GB" sz="1600" dirty="0"/>
              <a:t>The proposed solution is a web-based intelligent platform that leverages </a:t>
            </a:r>
            <a:r>
              <a:rPr lang="en-GB" sz="1600" b="1" dirty="0"/>
              <a:t>Generative Artificial Intelligence and automated text analysis techniques</a:t>
            </a:r>
            <a:r>
              <a:rPr lang="en-GB" sz="1600" dirty="0"/>
              <a:t> to evaluate resumes and provide structured, personalized feedback in real time.</a:t>
            </a:r>
          </a:p>
          <a:p>
            <a:r>
              <a:rPr lang="en-GB" sz="1600" dirty="0"/>
              <a:t>The system allows users to upload their resumes in PDF or text format and optionally specify a target job role. The platform extracts and processes the resume content, calculates an </a:t>
            </a:r>
            <a:r>
              <a:rPr lang="en-GB" sz="1600" b="1" dirty="0"/>
              <a:t>ATS compatibility score</a:t>
            </a:r>
            <a:r>
              <a:rPr lang="en-GB" sz="1600" dirty="0"/>
              <a:t> by matching role-specific keywords, and uses a </a:t>
            </a:r>
            <a:r>
              <a:rPr lang="en-GB" sz="1600" b="1" dirty="0"/>
              <a:t>Generative AI engine</a:t>
            </a:r>
            <a:r>
              <a:rPr lang="en-GB" sz="1600" dirty="0"/>
              <a:t> to generate professional, actionable improvement suggestions.</a:t>
            </a:r>
          </a:p>
          <a:p>
            <a:r>
              <a:rPr lang="en-GB" sz="1600" b="1" dirty="0"/>
              <a:t>Key Components of the Solution:</a:t>
            </a:r>
          </a:p>
          <a:p>
            <a:r>
              <a:rPr lang="en-GB" sz="1600" b="1" dirty="0"/>
              <a:t>User Interface (Web Application):</a:t>
            </a:r>
            <a:br>
              <a:rPr lang="en-GB" sz="1600" dirty="0"/>
            </a:br>
            <a:r>
              <a:rPr lang="en-GB" sz="1600" dirty="0"/>
              <a:t>A simple and interactive web interface built using </a:t>
            </a:r>
            <a:r>
              <a:rPr lang="en-GB" sz="1600" dirty="0" err="1"/>
              <a:t>Streamlit</a:t>
            </a:r>
            <a:r>
              <a:rPr lang="en-GB" sz="1600" dirty="0"/>
              <a:t> that enables users to upload resumes, select AI mode, and view feedback instantly.</a:t>
            </a:r>
          </a:p>
          <a:p>
            <a:r>
              <a:rPr lang="en-GB" sz="1600" b="1" dirty="0"/>
              <a:t>Resume Processing Module:</a:t>
            </a:r>
            <a:br>
              <a:rPr lang="en-GB" sz="1600" dirty="0"/>
            </a:br>
            <a:r>
              <a:rPr lang="en-GB" sz="1600" dirty="0"/>
              <a:t>Extracts text from PDF and TXT files, cleans and structures the content for analysis.</a:t>
            </a:r>
          </a:p>
          <a:p>
            <a:r>
              <a:rPr lang="en-GB" sz="1600" b="1" dirty="0"/>
              <a:t>ATS Scoring Engine:</a:t>
            </a:r>
            <a:br>
              <a:rPr lang="en-GB" sz="1600" dirty="0"/>
            </a:br>
            <a:r>
              <a:rPr lang="en-GB" sz="1600" dirty="0"/>
              <a:t>Compares resume content with job role keywords to compute a compatibility score and provides visual indicators of resume strength.</a:t>
            </a:r>
          </a:p>
          <a:p>
            <a:r>
              <a:rPr lang="en-GB" sz="1600" b="1" dirty="0"/>
              <a:t>Generative AI Feedback Engine:</a:t>
            </a:r>
            <a:br>
              <a:rPr lang="en-GB" sz="1600" dirty="0"/>
            </a:br>
            <a:r>
              <a:rPr lang="en-GB" sz="1600" dirty="0"/>
              <a:t>Uses Google Gemini AI to generate structured, role-specific recommendations for improving resume clarity, impact, formatting, and keyword optimization.</a:t>
            </a:r>
          </a:p>
          <a:p>
            <a:r>
              <a:rPr lang="en-GB" sz="1600" b="1" dirty="0"/>
              <a:t>Caching &amp; Performance Control:</a:t>
            </a:r>
            <a:br>
              <a:rPr lang="en-GB" sz="1600" dirty="0"/>
            </a:br>
            <a:r>
              <a:rPr lang="en-GB" sz="1600" dirty="0"/>
              <a:t>Prevents repeated API calls for the same resume using file hashing and request cooldown, improving efficiency and reducing costs.</a:t>
            </a:r>
          </a:p>
          <a:p>
            <a:r>
              <a:rPr lang="en-GB" sz="1600" b="1" dirty="0"/>
              <a:t>Security &amp; Configuration Layer:</a:t>
            </a:r>
            <a:br>
              <a:rPr lang="en-GB" sz="1600" dirty="0"/>
            </a:br>
            <a:r>
              <a:rPr lang="en-GB" sz="1600" dirty="0"/>
              <a:t>Protects sensitive API keys using environment variables and excludes them from public repositories.</a:t>
            </a:r>
          </a:p>
          <a:p>
            <a:endParaRPr lang="en-IN" sz="16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7" name="Rectangle 3">
            <a:extLst>
              <a:ext uri="{FF2B5EF4-FFF2-40B4-BE49-F238E27FC236}">
                <a16:creationId xmlns:a16="http://schemas.microsoft.com/office/drawing/2014/main" id="{E8DEF9F6-6D2B-81FD-6A48-945CD1848326}"/>
              </a:ext>
            </a:extLst>
          </p:cNvPr>
          <p:cNvSpPr>
            <a:spLocks noChangeArrowheads="1"/>
          </p:cNvSpPr>
          <p:nvPr/>
        </p:nvSpPr>
        <p:spPr bwMode="auto">
          <a:xfrm>
            <a:off x="581192" y="1398952"/>
            <a:ext cx="1102961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 Extraction: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system extracts and preprocesses the resume content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ATS Evaluation: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Job role keywords are matched against resume text to calculate an ATS compatibility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Analysis: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processed resume content is sent to a Generative AI model to generate structured, role-specific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Result Display: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platform displays the ATS score and AI-generated recommendations in a clear and user-friendly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user uploads a resume (PDF/TXT) and optionally enters a target job role through the web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Performance Control: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Caching and request throttling are used to prevent repeated processing of the same resume and reduce API usage.</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3315522"/>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A0F4445-C0BD-8BC3-7C61-20CCB6716D3A}"/>
              </a:ext>
            </a:extLst>
          </p:cNvPr>
          <p:cNvSpPr txBox="1"/>
          <p:nvPr/>
        </p:nvSpPr>
        <p:spPr>
          <a:xfrm>
            <a:off x="745660" y="1037975"/>
            <a:ext cx="11114249" cy="5847755"/>
          </a:xfrm>
          <a:prstGeom prst="rect">
            <a:avLst/>
          </a:prstGeom>
          <a:noFill/>
        </p:spPr>
        <p:txBody>
          <a:bodyPr wrap="square" rtlCol="0">
            <a:spAutoFit/>
          </a:bodyPr>
          <a:lstStyle/>
          <a:p>
            <a:r>
              <a:rPr lang="en-GB" sz="1700" b="1" dirty="0"/>
              <a:t>Algorithm</a:t>
            </a:r>
          </a:p>
          <a:p>
            <a:r>
              <a:rPr lang="en-GB" sz="1700" dirty="0"/>
              <a:t>Start the system.</a:t>
            </a:r>
          </a:p>
          <a:p>
            <a:r>
              <a:rPr lang="en-GB" sz="1700" dirty="0"/>
              <a:t>Accept resume file (PDF/TXT) and optional target job role from the user.</a:t>
            </a:r>
          </a:p>
          <a:p>
            <a:r>
              <a:rPr lang="en-GB" sz="1700" dirty="0"/>
              <a:t>Validate file format and check if the file is empty.</a:t>
            </a:r>
          </a:p>
          <a:p>
            <a:r>
              <a:rPr lang="en-GB" sz="1700" dirty="0"/>
              <a:t>Extract and preprocess text from the resume.</a:t>
            </a:r>
          </a:p>
          <a:p>
            <a:r>
              <a:rPr lang="en-GB" sz="1700" dirty="0"/>
              <a:t>Calculate ATS compatibility score by matching job role keywords with resume content.</a:t>
            </a:r>
          </a:p>
          <a:p>
            <a:r>
              <a:rPr lang="en-GB" sz="1700" dirty="0"/>
              <a:t>Generate a structured prompt using the extracted resume text and job role.</a:t>
            </a:r>
          </a:p>
          <a:p>
            <a:r>
              <a:rPr lang="en-GB" sz="1700" dirty="0"/>
              <a:t>Send the prompt to the Generative AI model.</a:t>
            </a:r>
          </a:p>
          <a:p>
            <a:r>
              <a:rPr lang="en-GB" sz="1700" dirty="0"/>
              <a:t>Receive AI-generated feedback and recommendations.</a:t>
            </a:r>
          </a:p>
          <a:p>
            <a:r>
              <a:rPr lang="en-GB" sz="1700" dirty="0"/>
              <a:t>Cache the result to avoid reprocessing the same resume.</a:t>
            </a:r>
          </a:p>
          <a:p>
            <a:r>
              <a:rPr lang="en-GB" sz="1700" dirty="0"/>
              <a:t>Display ATS score and feedback to the user.</a:t>
            </a:r>
          </a:p>
          <a:p>
            <a:r>
              <a:rPr lang="en-GB" sz="1700" dirty="0"/>
              <a:t>End.</a:t>
            </a:r>
          </a:p>
          <a:p>
            <a:r>
              <a:rPr lang="en-GB" sz="1700" b="1" dirty="0"/>
              <a:t>Deployment</a:t>
            </a:r>
          </a:p>
          <a:p>
            <a:r>
              <a:rPr lang="en-GB" sz="1700" dirty="0"/>
              <a:t>The application is hosted as a web-based platform using </a:t>
            </a:r>
            <a:r>
              <a:rPr lang="en-GB" sz="1700" b="1" dirty="0" err="1"/>
              <a:t>Streamlit</a:t>
            </a:r>
            <a:r>
              <a:rPr lang="en-GB" sz="1700" dirty="0"/>
              <a:t>.</a:t>
            </a:r>
          </a:p>
          <a:p>
            <a:r>
              <a:rPr lang="en-GB" sz="1700" dirty="0"/>
              <a:t>The project source code is stored and managed on </a:t>
            </a:r>
            <a:r>
              <a:rPr lang="en-GB" sz="1700" b="1" dirty="0"/>
              <a:t>GitHub</a:t>
            </a:r>
            <a:r>
              <a:rPr lang="en-GB" sz="1700" dirty="0"/>
              <a:t> for version control.</a:t>
            </a:r>
          </a:p>
          <a:p>
            <a:r>
              <a:rPr lang="en-GB" sz="1700" dirty="0"/>
              <a:t>Required dependencies are listed in a requirements.txt file for easy installation.</a:t>
            </a:r>
          </a:p>
          <a:p>
            <a:r>
              <a:rPr lang="en-GB" sz="1700" dirty="0"/>
              <a:t>Environment variables are used to securely store API keys and configuration settings.</a:t>
            </a:r>
          </a:p>
          <a:p>
            <a:r>
              <a:rPr lang="en-GB" sz="1700" dirty="0"/>
              <a:t>The application can be deployed on cloud platforms such as </a:t>
            </a:r>
            <a:r>
              <a:rPr lang="en-GB" sz="1700" b="1" dirty="0" err="1"/>
              <a:t>Streamlit</a:t>
            </a:r>
            <a:r>
              <a:rPr lang="en-GB" sz="1700" b="1" dirty="0"/>
              <a:t> Cloud</a:t>
            </a:r>
            <a:r>
              <a:rPr lang="en-GB" sz="1700" dirty="0"/>
              <a:t>, </a:t>
            </a:r>
            <a:r>
              <a:rPr lang="en-GB" sz="1700" b="1" dirty="0"/>
              <a:t>Hugging Face Spaces</a:t>
            </a:r>
            <a:r>
              <a:rPr lang="en-GB" sz="1700" dirty="0"/>
              <a:t>, or </a:t>
            </a:r>
            <a:r>
              <a:rPr lang="en-GB" sz="1700" b="1" dirty="0"/>
              <a:t>Render</a:t>
            </a:r>
            <a:r>
              <a:rPr lang="en-GB" sz="1700" dirty="0"/>
              <a:t>.</a:t>
            </a:r>
          </a:p>
          <a:p>
            <a:r>
              <a:rPr lang="en-GB" sz="1700" dirty="0"/>
              <a:t>Users access the system through a web browser without installing any local software.</a:t>
            </a:r>
          </a:p>
          <a:p>
            <a:r>
              <a:rPr lang="en-GB" sz="1700" dirty="0"/>
              <a:t>Continuous updates and improvements can be made by pushing changes to the GitHub repository and redeploying the application.</a:t>
            </a:r>
          </a:p>
          <a:p>
            <a:endParaRPr lang="en-IN" sz="1700"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E0546558-86B1-4D0F-7D59-F3BF41D9235C}"/>
              </a:ext>
            </a:extLst>
          </p:cNvPr>
          <p:cNvPicPr>
            <a:picLocks noGrp="1" noChangeAspect="1"/>
          </p:cNvPicPr>
          <p:nvPr>
            <p:ph idx="1"/>
          </p:nvPr>
        </p:nvPicPr>
        <p:blipFill>
          <a:blip r:embed="rId2"/>
          <a:stretch>
            <a:fillRect/>
          </a:stretch>
        </p:blipFill>
        <p:spPr bwMode="auto">
          <a:xfrm>
            <a:off x="2863501" y="940670"/>
            <a:ext cx="6464997" cy="551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3" name="TextBox 2">
            <a:extLst>
              <a:ext uri="{FF2B5EF4-FFF2-40B4-BE49-F238E27FC236}">
                <a16:creationId xmlns:a16="http://schemas.microsoft.com/office/drawing/2014/main" id="{A9C33E59-1E72-6096-56D1-371D081BAC83}"/>
              </a:ext>
            </a:extLst>
          </p:cNvPr>
          <p:cNvSpPr txBox="1"/>
          <p:nvPr/>
        </p:nvSpPr>
        <p:spPr>
          <a:xfrm>
            <a:off x="522895" y="1702969"/>
            <a:ext cx="11146210" cy="2862322"/>
          </a:xfrm>
          <a:prstGeom prst="rect">
            <a:avLst/>
          </a:prstGeom>
          <a:noFill/>
        </p:spPr>
        <p:txBody>
          <a:bodyPr wrap="square" rtlCol="0">
            <a:spAutoFit/>
          </a:bodyPr>
          <a:lstStyle/>
          <a:p>
            <a:r>
              <a:rPr lang="en-GB" b="1" dirty="0"/>
              <a:t>Conclusion</a:t>
            </a:r>
          </a:p>
          <a:p>
            <a:r>
              <a:rPr lang="en-GB" dirty="0"/>
              <a:t>The AI-Powered Resume </a:t>
            </a:r>
            <a:r>
              <a:rPr lang="en-GB" dirty="0" err="1"/>
              <a:t>Critiquer</a:t>
            </a:r>
            <a:r>
              <a:rPr lang="en-GB" dirty="0"/>
              <a:t> and ATS Optimization System successfully demonstrates how Generative Artificial Intelligence can be applied to improve the quality and effectiveness of resumes. By combining automated text extraction, ATS compatibility scoring, and AI-driven feedback, the system provides users with structured, role-specific recommendations in real time.</a:t>
            </a:r>
          </a:p>
          <a:p>
            <a:r>
              <a:rPr lang="en-GB" dirty="0"/>
              <a:t>This project enhances students’ and job seekers’ ability to optimize their resumes for both automated screening systems and human recruiters. The platform is user-friendly, scalable, and secure, making it suitable for academic, professional, and institutional use. The solution highlights the potential of AI in transforming traditional career development tools into intelligent, accessible, and impactful digital platforms.</a:t>
            </a:r>
          </a:p>
          <a:p>
            <a:endParaRPr lang="en-IN" b="1"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4"/>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2" name="TextBox 1">
            <a:extLst>
              <a:ext uri="{FF2B5EF4-FFF2-40B4-BE49-F238E27FC236}">
                <a16:creationId xmlns:a16="http://schemas.microsoft.com/office/drawing/2014/main" id="{AC5888A2-6407-8836-4531-99B711F8032D}"/>
              </a:ext>
            </a:extLst>
          </p:cNvPr>
          <p:cNvSpPr txBox="1"/>
          <p:nvPr/>
        </p:nvSpPr>
        <p:spPr>
          <a:xfrm>
            <a:off x="1020933" y="1374955"/>
            <a:ext cx="10733102" cy="5355312"/>
          </a:xfrm>
          <a:prstGeom prst="rect">
            <a:avLst/>
          </a:prstGeom>
          <a:noFill/>
        </p:spPr>
        <p:txBody>
          <a:bodyPr wrap="square" rtlCol="0">
            <a:spAutoFit/>
          </a:bodyPr>
          <a:lstStyle/>
          <a:p>
            <a:r>
              <a:rPr lang="en-GB" b="1" dirty="0"/>
              <a:t>Multi-Format Resume Support:</a:t>
            </a:r>
            <a:br>
              <a:rPr lang="en-GB" dirty="0"/>
            </a:br>
            <a:r>
              <a:rPr lang="en-GB" dirty="0"/>
              <a:t>Extend the system to support additional file formats such as DOCX and image-based resumes using OCR technology.</a:t>
            </a:r>
          </a:p>
          <a:p>
            <a:r>
              <a:rPr lang="en-GB" b="1" dirty="0"/>
              <a:t>Advanced ATS Simulation:</a:t>
            </a:r>
            <a:br>
              <a:rPr lang="en-GB" dirty="0"/>
            </a:br>
            <a:r>
              <a:rPr lang="en-GB" dirty="0"/>
              <a:t>Implement industry-specific ATS algorithms to simulate real recruitment systems for more accurate scoring.</a:t>
            </a:r>
          </a:p>
          <a:p>
            <a:r>
              <a:rPr lang="en-GB" b="1" dirty="0"/>
              <a:t>Personalized Career Insights:</a:t>
            </a:r>
            <a:br>
              <a:rPr lang="en-GB" dirty="0"/>
            </a:br>
            <a:r>
              <a:rPr lang="en-GB" dirty="0"/>
              <a:t>Provide career path suggestions, skill gap analysis, and recommended certifications based on resume content.</a:t>
            </a:r>
          </a:p>
          <a:p>
            <a:r>
              <a:rPr lang="en-GB" b="1" dirty="0"/>
              <a:t>Multi-Language Support:</a:t>
            </a:r>
            <a:br>
              <a:rPr lang="en-GB" dirty="0"/>
            </a:br>
            <a:r>
              <a:rPr lang="en-GB" dirty="0"/>
              <a:t>Enable resume analysis and feedback in multiple languages for global accessibility.</a:t>
            </a:r>
          </a:p>
          <a:p>
            <a:r>
              <a:rPr lang="en-GB" b="1" dirty="0"/>
              <a:t>Job Portal Integration:</a:t>
            </a:r>
            <a:br>
              <a:rPr lang="en-GB" dirty="0"/>
            </a:br>
            <a:r>
              <a:rPr lang="en-GB" dirty="0"/>
              <a:t>Integrate with platforms like LinkedIn and job portals to </a:t>
            </a:r>
            <a:r>
              <a:rPr lang="en-GB" dirty="0" err="1"/>
              <a:t>analyze</a:t>
            </a:r>
            <a:r>
              <a:rPr lang="en-GB" dirty="0"/>
              <a:t> job descriptions and tailor resumes automatically.</a:t>
            </a:r>
          </a:p>
          <a:p>
            <a:r>
              <a:rPr lang="en-GB" b="1" dirty="0"/>
              <a:t>Analytics Dashboard:</a:t>
            </a:r>
            <a:br>
              <a:rPr lang="en-GB" dirty="0"/>
            </a:br>
            <a:r>
              <a:rPr lang="en-GB" dirty="0"/>
              <a:t>Add user dashboards to track resume improvement progress over time and compare ATS scores across versions.</a:t>
            </a:r>
          </a:p>
          <a:p>
            <a:r>
              <a:rPr lang="en-GB" b="1" dirty="0"/>
              <a:t>Enterprise Deployment:</a:t>
            </a:r>
            <a:br>
              <a:rPr lang="en-GB" dirty="0"/>
            </a:br>
            <a:r>
              <a:rPr lang="en-GB" dirty="0"/>
              <a:t>Scale the system for institutional use in colleges, training </a:t>
            </a:r>
            <a:r>
              <a:rPr lang="en-GB" dirty="0" err="1"/>
              <a:t>centers</a:t>
            </a:r>
            <a:r>
              <a:rPr lang="en-GB" dirty="0"/>
              <a:t>, and recruitment agencies.</a:t>
            </a:r>
          </a:p>
          <a:p>
            <a:endParaRPr lang="en-IN" dirty="0"/>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4" name="Rectangle 1">
            <a:extLst>
              <a:ext uri="{FF2B5EF4-FFF2-40B4-BE49-F238E27FC236}">
                <a16:creationId xmlns:a16="http://schemas.microsoft.com/office/drawing/2014/main" id="{8796BEC8-BCFC-2DCA-21B3-159ECB75069E}"/>
              </a:ext>
            </a:extLst>
          </p:cNvPr>
          <p:cNvSpPr>
            <a:spLocks noChangeArrowheads="1"/>
          </p:cNvSpPr>
          <p:nvPr/>
        </p:nvSpPr>
        <p:spPr bwMode="auto">
          <a:xfrm>
            <a:off x="484814" y="1438120"/>
            <a:ext cx="111259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Streamlit</a:t>
            </a:r>
            <a:r>
              <a:rPr kumimoji="0" lang="en-US" altLang="en-US" sz="1600" b="0" i="0" u="none" strike="noStrike" cap="none" normalizeH="0" baseline="0" dirty="0">
                <a:ln>
                  <a:noFill/>
                </a:ln>
                <a:solidFill>
                  <a:schemeClr val="tx1"/>
                </a:solidFill>
                <a:effectLst/>
                <a:latin typeface="Arial" panose="020B0604020202020204" pitchFamily="34" charset="0"/>
              </a:rPr>
              <a:t> Documentation. </a:t>
            </a:r>
            <a:r>
              <a:rPr kumimoji="0" lang="en-US" altLang="en-US" sz="1600" b="0" i="1" u="none" strike="noStrike" cap="none" normalizeH="0" baseline="0" dirty="0" err="1">
                <a:ln>
                  <a:noFill/>
                </a:ln>
                <a:solidFill>
                  <a:schemeClr val="tx1"/>
                </a:solidFill>
                <a:effectLst/>
                <a:latin typeface="Arial" panose="020B0604020202020204" pitchFamily="34" charset="0"/>
              </a:rPr>
              <a:t>Streamlit</a:t>
            </a:r>
            <a:r>
              <a:rPr kumimoji="0" lang="en-US" altLang="en-US" sz="1600" b="0" i="1" u="none" strike="noStrike" cap="none" normalizeH="0" baseline="0" dirty="0">
                <a:ln>
                  <a:noFill/>
                </a:ln>
                <a:solidFill>
                  <a:schemeClr val="tx1"/>
                </a:solidFill>
                <a:effectLst/>
                <a:latin typeface="Arial" panose="020B0604020202020204" pitchFamily="34" charset="0"/>
              </a:rPr>
              <a:t>: The Fastest Way to Build Data Apps in Python.</a:t>
            </a:r>
            <a:r>
              <a:rPr kumimoji="0" lang="en-US" altLang="en-US" sz="1600" b="0" i="0" u="none" strike="noStrike" cap="none" normalizeH="0" baseline="0" dirty="0">
                <a:ln>
                  <a:noFill/>
                </a:ln>
                <a:solidFill>
                  <a:schemeClr val="tx1"/>
                </a:solidFill>
                <a:effectLst/>
                <a:latin typeface="Arial" panose="020B0604020202020204" pitchFamily="34" charset="0"/>
              </a:rPr>
              <a:t> Available at: </a:t>
            </a:r>
            <a:r>
              <a:rPr kumimoji="0" lang="en-US" altLang="en-US" sz="1600" b="0" i="0" u="none" strike="noStrike" cap="none" normalizeH="0" baseline="0" dirty="0">
                <a:ln>
                  <a:noFill/>
                </a:ln>
                <a:solidFill>
                  <a:schemeClr val="tx1"/>
                </a:solidFill>
                <a:effectLst/>
                <a:latin typeface="Arial" panose="020B0604020202020204" pitchFamily="34" charset="0"/>
                <a:hlinkClick r:id="rId2"/>
              </a:rPr>
              <a:t>https://docs.streamlit.io</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Google Generative AI Documentation. </a:t>
            </a:r>
            <a:r>
              <a:rPr kumimoji="0" lang="en-US" altLang="en-US" sz="1600" b="0" i="1" u="none" strike="noStrike" cap="none" normalizeH="0" baseline="0" dirty="0">
                <a:ln>
                  <a:noFill/>
                </a:ln>
                <a:solidFill>
                  <a:schemeClr val="tx1"/>
                </a:solidFill>
                <a:effectLst/>
                <a:latin typeface="Arial" panose="020B0604020202020204" pitchFamily="34" charset="0"/>
              </a:rPr>
              <a:t>Gemini API &amp; SDK Guide.</a:t>
            </a:r>
            <a:r>
              <a:rPr kumimoji="0" lang="en-US" altLang="en-US" sz="1600" b="0" i="0" u="none" strike="noStrike" cap="none" normalizeH="0" baseline="0" dirty="0">
                <a:ln>
                  <a:noFill/>
                </a:ln>
                <a:solidFill>
                  <a:schemeClr val="tx1"/>
                </a:solidFill>
                <a:effectLst/>
                <a:latin typeface="Arial" panose="020B0604020202020204" pitchFamily="34" charset="0"/>
              </a:rPr>
              <a:t> Available at: </a:t>
            </a:r>
            <a:r>
              <a:rPr kumimoji="0" lang="en-US" altLang="en-US" sz="1600" b="0" i="0" u="none" strike="noStrike" cap="none" normalizeH="0" baseline="0" dirty="0">
                <a:ln>
                  <a:noFill/>
                </a:ln>
                <a:solidFill>
                  <a:schemeClr val="tx1"/>
                </a:solidFill>
                <a:effectLst/>
                <a:latin typeface="Arial" panose="020B0604020202020204" pitchFamily="34" charset="0"/>
                <a:hlinkClick r:id="rId3"/>
              </a:rPr>
              <a:t>https://ai.google.dev</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PyPDF2 Documentation. </a:t>
            </a:r>
            <a:r>
              <a:rPr kumimoji="0" lang="en-US" altLang="en-US" sz="1600" b="0" i="1" u="none" strike="noStrike" cap="none" normalizeH="0" baseline="0" dirty="0">
                <a:ln>
                  <a:noFill/>
                </a:ln>
                <a:solidFill>
                  <a:schemeClr val="tx1"/>
                </a:solidFill>
                <a:effectLst/>
                <a:latin typeface="Arial" panose="020B0604020202020204" pitchFamily="34" charset="0"/>
              </a:rPr>
              <a:t>Python PDF Processing Library.</a:t>
            </a:r>
            <a:r>
              <a:rPr kumimoji="0" lang="en-US" altLang="en-US" sz="1600" b="0" i="0" u="none" strike="noStrike" cap="none" normalizeH="0" baseline="0" dirty="0">
                <a:ln>
                  <a:noFill/>
                </a:ln>
                <a:solidFill>
                  <a:schemeClr val="tx1"/>
                </a:solidFill>
                <a:effectLst/>
                <a:latin typeface="Arial" panose="020B0604020202020204" pitchFamily="34" charset="0"/>
              </a:rPr>
              <a:t> Available at: </a:t>
            </a:r>
            <a:r>
              <a:rPr kumimoji="0" lang="en-US" altLang="en-US" sz="1600" b="0" i="0" u="none" strike="noStrike" cap="none" normalizeH="0" baseline="0" dirty="0">
                <a:ln>
                  <a:noFill/>
                </a:ln>
                <a:solidFill>
                  <a:schemeClr val="tx1"/>
                </a:solidFill>
                <a:effectLst/>
                <a:latin typeface="Arial" panose="020B0604020202020204" pitchFamily="34" charset="0"/>
                <a:hlinkClick r:id="rId4"/>
              </a:rPr>
              <a:t>https://pypdf2.readthedocs.io</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GitHub. </a:t>
            </a:r>
            <a:r>
              <a:rPr kumimoji="0" lang="en-US" altLang="en-US" sz="1600" b="0" i="1" u="none" strike="noStrike" cap="none" normalizeH="0" baseline="0" dirty="0">
                <a:ln>
                  <a:noFill/>
                </a:ln>
                <a:solidFill>
                  <a:schemeClr val="tx1"/>
                </a:solidFill>
                <a:effectLst/>
                <a:latin typeface="Arial" panose="020B0604020202020204" pitchFamily="34" charset="0"/>
              </a:rPr>
              <a:t>Version Control and Collaboration Platform.</a:t>
            </a:r>
            <a:r>
              <a:rPr kumimoji="0" lang="en-US" altLang="en-US" sz="1600" b="0" i="0" u="none" strike="noStrike" cap="none" normalizeH="0" baseline="0" dirty="0">
                <a:ln>
                  <a:noFill/>
                </a:ln>
                <a:solidFill>
                  <a:schemeClr val="tx1"/>
                </a:solidFill>
                <a:effectLst/>
                <a:latin typeface="Arial" panose="020B0604020202020204" pitchFamily="34" charset="0"/>
              </a:rPr>
              <a:t> Available at: </a:t>
            </a:r>
            <a:r>
              <a:rPr kumimoji="0" lang="en-US" altLang="en-US" sz="1600" b="0" i="0" u="none" strike="noStrike" cap="none" normalizeH="0" baseline="0" dirty="0">
                <a:ln>
                  <a:noFill/>
                </a:ln>
                <a:solidFill>
                  <a:schemeClr val="tx1"/>
                </a:solidFill>
                <a:effectLst/>
                <a:latin typeface="Arial" panose="020B0604020202020204" pitchFamily="34" charset="0"/>
                <a:hlinkClick r:id="rId5"/>
              </a:rPr>
              <a:t>https://github.com</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Python Software Foundation. </a:t>
            </a:r>
            <a:r>
              <a:rPr kumimoji="0" lang="en-US" altLang="en-US" sz="1600" b="0" i="1" u="none" strike="noStrike" cap="none" normalizeH="0" baseline="0" dirty="0">
                <a:ln>
                  <a:noFill/>
                </a:ln>
                <a:solidFill>
                  <a:schemeClr val="tx1"/>
                </a:solidFill>
                <a:effectLst/>
                <a:latin typeface="Arial" panose="020B0604020202020204" pitchFamily="34" charset="0"/>
              </a:rPr>
              <a:t>Python Programming Language Documentation.</a:t>
            </a:r>
            <a:r>
              <a:rPr kumimoji="0" lang="en-US" altLang="en-US" sz="1600" b="0" i="0" u="none" strike="noStrike" cap="none" normalizeH="0" baseline="0" dirty="0">
                <a:ln>
                  <a:noFill/>
                </a:ln>
                <a:solidFill>
                  <a:schemeClr val="tx1"/>
                </a:solidFill>
                <a:effectLst/>
                <a:latin typeface="Arial" panose="020B0604020202020204" pitchFamily="34" charset="0"/>
              </a:rPr>
              <a:t> Available at: </a:t>
            </a:r>
            <a:r>
              <a:rPr kumimoji="0" lang="en-US" altLang="en-US" sz="1600" b="0" i="0" u="none" strike="noStrike" cap="none" normalizeH="0" baseline="0" dirty="0">
                <a:ln>
                  <a:noFill/>
                </a:ln>
                <a:solidFill>
                  <a:schemeClr val="tx1"/>
                </a:solidFill>
                <a:effectLst/>
                <a:latin typeface="Arial" panose="020B0604020202020204" pitchFamily="34" charset="0"/>
                <a:hlinkClick r:id="rId6"/>
              </a:rPr>
              <a:t>https://docs.python.org</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7" name="TextBox 6">
            <a:extLst>
              <a:ext uri="{FF2B5EF4-FFF2-40B4-BE49-F238E27FC236}">
                <a16:creationId xmlns:a16="http://schemas.microsoft.com/office/drawing/2014/main" id="{6E5FCE3F-A209-5282-6E94-76E65C424F36}"/>
              </a:ext>
            </a:extLst>
          </p:cNvPr>
          <p:cNvSpPr txBox="1"/>
          <p:nvPr/>
        </p:nvSpPr>
        <p:spPr>
          <a:xfrm>
            <a:off x="581192" y="1844570"/>
            <a:ext cx="1629348" cy="400110"/>
          </a:xfrm>
          <a:prstGeom prst="rect">
            <a:avLst/>
          </a:prstGeom>
          <a:noFill/>
        </p:spPr>
        <p:txBody>
          <a:bodyPr wrap="square" rtlCol="0">
            <a:spAutoFit/>
          </a:bodyPr>
          <a:lstStyle/>
          <a:p>
            <a:r>
              <a:rPr lang="en-IN" sz="2000" dirty="0" err="1"/>
              <a:t>Github</a:t>
            </a:r>
            <a:r>
              <a:rPr lang="en-IN" sz="2000" dirty="0"/>
              <a:t> Link - </a:t>
            </a:r>
          </a:p>
        </p:txBody>
      </p:sp>
      <p:sp>
        <p:nvSpPr>
          <p:cNvPr id="8" name="TextBox 7">
            <a:extLst>
              <a:ext uri="{FF2B5EF4-FFF2-40B4-BE49-F238E27FC236}">
                <a16:creationId xmlns:a16="http://schemas.microsoft.com/office/drawing/2014/main" id="{F1F192FE-7AB0-4FD8-8777-472886F971B1}"/>
              </a:ext>
            </a:extLst>
          </p:cNvPr>
          <p:cNvSpPr txBox="1"/>
          <p:nvPr/>
        </p:nvSpPr>
        <p:spPr>
          <a:xfrm>
            <a:off x="2229775" y="1851462"/>
            <a:ext cx="7732450" cy="400110"/>
          </a:xfrm>
          <a:prstGeom prst="rect">
            <a:avLst/>
          </a:prstGeom>
          <a:noFill/>
        </p:spPr>
        <p:txBody>
          <a:bodyPr wrap="square" rtlCol="0">
            <a:spAutoFit/>
          </a:bodyPr>
          <a:lstStyle/>
          <a:p>
            <a:r>
              <a:rPr lang="en-IN" sz="2000" dirty="0"/>
              <a:t>https://github.com/Krrish-Raut/ai-resume-critiquer.git</a:t>
            </a:r>
          </a:p>
        </p:txBody>
      </p:sp>
      <p:sp>
        <p:nvSpPr>
          <p:cNvPr id="9" name="TextBox 8">
            <a:extLst>
              <a:ext uri="{FF2B5EF4-FFF2-40B4-BE49-F238E27FC236}">
                <a16:creationId xmlns:a16="http://schemas.microsoft.com/office/drawing/2014/main" id="{B4958041-3B5C-A849-1023-351FB47ADD9C}"/>
              </a:ext>
            </a:extLst>
          </p:cNvPr>
          <p:cNvSpPr txBox="1"/>
          <p:nvPr/>
        </p:nvSpPr>
        <p:spPr>
          <a:xfrm>
            <a:off x="581192" y="3018408"/>
            <a:ext cx="2116990" cy="400110"/>
          </a:xfrm>
          <a:prstGeom prst="rect">
            <a:avLst/>
          </a:prstGeom>
          <a:noFill/>
        </p:spPr>
        <p:txBody>
          <a:bodyPr wrap="none" rtlCol="0">
            <a:spAutoFit/>
          </a:bodyPr>
          <a:lstStyle/>
          <a:p>
            <a:r>
              <a:rPr lang="en-IN" sz="2000" dirty="0"/>
              <a:t>Deployment link - </a:t>
            </a:r>
          </a:p>
        </p:txBody>
      </p:sp>
      <p:sp>
        <p:nvSpPr>
          <p:cNvPr id="14" name="TextBox 13">
            <a:extLst>
              <a:ext uri="{FF2B5EF4-FFF2-40B4-BE49-F238E27FC236}">
                <a16:creationId xmlns:a16="http://schemas.microsoft.com/office/drawing/2014/main" id="{1FC4C8B0-72EE-3CBB-E6D9-55757A9FD7EB}"/>
              </a:ext>
            </a:extLst>
          </p:cNvPr>
          <p:cNvSpPr txBox="1"/>
          <p:nvPr/>
        </p:nvSpPr>
        <p:spPr>
          <a:xfrm>
            <a:off x="2698182" y="3018408"/>
            <a:ext cx="9587884" cy="400110"/>
          </a:xfrm>
          <a:prstGeom prst="rect">
            <a:avLst/>
          </a:prstGeom>
          <a:noFill/>
        </p:spPr>
        <p:txBody>
          <a:bodyPr wrap="square" rtlCol="0">
            <a:spAutoFit/>
          </a:bodyPr>
          <a:lstStyle/>
          <a:p>
            <a:r>
              <a:rPr lang="en-IN" sz="2000" dirty="0"/>
              <a:t>https://ai-resume-critiquer-nansgpymrs4uywzkbyhnd3.streamlit.app</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1099</TotalTime>
  <Words>1237</Words>
  <Application>Microsoft Office PowerPoint</Application>
  <PresentationFormat>Widescreen</PresentationFormat>
  <Paragraphs>93</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Ai resume critiquer</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krish raut</cp:lastModifiedBy>
  <cp:revision>38</cp:revision>
  <dcterms:created xsi:type="dcterms:W3CDTF">2021-05-26T16:50:10Z</dcterms:created>
  <dcterms:modified xsi:type="dcterms:W3CDTF">2026-01-28T14:59:33Z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